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87" r:id="rId3"/>
    <p:sldId id="272" r:id="rId4"/>
    <p:sldId id="288" r:id="rId5"/>
    <p:sldId id="289" r:id="rId6"/>
    <p:sldId id="274" r:id="rId7"/>
    <p:sldId id="273" r:id="rId8"/>
    <p:sldId id="283" r:id="rId9"/>
    <p:sldId id="285" r:id="rId10"/>
    <p:sldId id="279" r:id="rId11"/>
    <p:sldId id="278" r:id="rId12"/>
    <p:sldId id="286" r:id="rId13"/>
    <p:sldId id="269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Ростислав Дерменев" initials="РД" lastIdx="1" clrIdx="0">
    <p:extLst>
      <p:ext uri="{19B8F6BF-5375-455C-9EA6-DF929625EA0E}">
        <p15:presenceInfo xmlns:p15="http://schemas.microsoft.com/office/powerpoint/2012/main" userId="50734ed5c23472a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71"/>
    <a:srgbClr val="FFFFFF"/>
    <a:srgbClr val="2A00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>
      <p:cViewPr varScale="1">
        <p:scale>
          <a:sx n="89" d="100"/>
          <a:sy n="89" d="100"/>
        </p:scale>
        <p:origin x="33" y="5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F4282-2DE7-44DB-B65B-D994D48843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A713D-5F80-487B-B7C8-59481D559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3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08080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Ковалев</a:t>
            </a:r>
            <a:r>
              <a:rPr spc="190" dirty="0"/>
              <a:t> </a:t>
            </a:r>
            <a:r>
              <a:rPr dirty="0"/>
              <a:t>Денис</a:t>
            </a:r>
            <a:r>
              <a:rPr spc="185" dirty="0"/>
              <a:t> </a:t>
            </a:r>
            <a:r>
              <a:rPr spc="-10" dirty="0"/>
              <a:t>Андреевич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08080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Ковалев</a:t>
            </a:r>
            <a:r>
              <a:rPr spc="190" dirty="0"/>
              <a:t> </a:t>
            </a:r>
            <a:r>
              <a:rPr dirty="0"/>
              <a:t>Денис</a:t>
            </a:r>
            <a:r>
              <a:rPr spc="185" dirty="0"/>
              <a:t> </a:t>
            </a:r>
            <a:r>
              <a:rPr spc="-10" dirty="0"/>
              <a:t>Андреевич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08080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Ковалев</a:t>
            </a:r>
            <a:r>
              <a:rPr spc="190" dirty="0"/>
              <a:t> </a:t>
            </a:r>
            <a:r>
              <a:rPr dirty="0"/>
              <a:t>Денис</a:t>
            </a:r>
            <a:r>
              <a:rPr spc="185" dirty="0"/>
              <a:t> </a:t>
            </a:r>
            <a:r>
              <a:rPr spc="-10" dirty="0"/>
              <a:t>Андреевич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08080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Ковалев</a:t>
            </a:r>
            <a:r>
              <a:rPr spc="190" dirty="0"/>
              <a:t> </a:t>
            </a:r>
            <a:r>
              <a:rPr dirty="0"/>
              <a:t>Денис</a:t>
            </a:r>
            <a:r>
              <a:rPr spc="185" dirty="0"/>
              <a:t> </a:t>
            </a:r>
            <a:r>
              <a:rPr spc="-10" dirty="0"/>
              <a:t>Андреевич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08080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Ковалев</a:t>
            </a:r>
            <a:r>
              <a:rPr spc="190" dirty="0"/>
              <a:t> </a:t>
            </a:r>
            <a:r>
              <a:rPr dirty="0"/>
              <a:t>Денис</a:t>
            </a:r>
            <a:r>
              <a:rPr spc="185" dirty="0"/>
              <a:t> </a:t>
            </a:r>
            <a:r>
              <a:rPr spc="-10" dirty="0"/>
              <a:t>Андреевич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66751" y="6214313"/>
            <a:ext cx="5689600" cy="7620"/>
          </a:xfrm>
          <a:custGeom>
            <a:avLst/>
            <a:gdLst/>
            <a:ahLst/>
            <a:cxnLst/>
            <a:rect l="l" t="t" r="r" b="b"/>
            <a:pathLst>
              <a:path w="5689600" h="7620">
                <a:moveTo>
                  <a:pt x="5689600" y="7620"/>
                </a:moveTo>
                <a:lnTo>
                  <a:pt x="0" y="7620"/>
                </a:lnTo>
                <a:lnTo>
                  <a:pt x="0" y="0"/>
                </a:lnTo>
                <a:lnTo>
                  <a:pt x="5689600" y="0"/>
                </a:lnTo>
                <a:lnTo>
                  <a:pt x="5689600" y="762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917" y="274320"/>
            <a:ext cx="10978515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917" y="1577340"/>
            <a:ext cx="1097851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003421" y="6218903"/>
            <a:ext cx="1774190" cy="193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08080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Ковалев</a:t>
            </a:r>
            <a:r>
              <a:rPr spc="190" dirty="0"/>
              <a:t> </a:t>
            </a:r>
            <a:r>
              <a:rPr dirty="0"/>
              <a:t>Денис</a:t>
            </a:r>
            <a:r>
              <a:rPr spc="185" dirty="0"/>
              <a:t> </a:t>
            </a:r>
            <a:r>
              <a:rPr spc="-10" dirty="0"/>
              <a:t>Андреевич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kwork.ru/2012/03/blog-post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ru.wikipedia.org/wiki/%D0%98%D0%B3%D1%80%D0%B0_%D0%B2_15" TargetMode="External"/><Relationship Id="rId4" Type="http://schemas.openxmlformats.org/officeDocument/2006/relationships/hyperlink" Target="https://habr.com/ru/articles/805541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889760"/>
            <a:ext cx="335280" cy="2449195"/>
          </a:xfrm>
          <a:custGeom>
            <a:avLst/>
            <a:gdLst/>
            <a:ahLst/>
            <a:cxnLst/>
            <a:rect l="l" t="t" r="r" b="b"/>
            <a:pathLst>
              <a:path w="335280" h="2449195">
                <a:moveTo>
                  <a:pt x="0" y="2449067"/>
                </a:moveTo>
                <a:lnTo>
                  <a:pt x="335280" y="2449067"/>
                </a:lnTo>
                <a:lnTo>
                  <a:pt x="335280" y="0"/>
                </a:lnTo>
                <a:lnTo>
                  <a:pt x="0" y="0"/>
                </a:lnTo>
                <a:lnTo>
                  <a:pt x="0" y="2449067"/>
                </a:lnTo>
                <a:close/>
              </a:path>
            </a:pathLst>
          </a:custGeom>
          <a:solidFill>
            <a:srgbClr val="00007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-1905" y="0"/>
            <a:ext cx="12193905" cy="6858000"/>
            <a:chOff x="0" y="0"/>
            <a:chExt cx="12193905" cy="6858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3905" cy="6858000"/>
            </a:xfrm>
            <a:custGeom>
              <a:avLst/>
              <a:gdLst/>
              <a:ahLst/>
              <a:cxnLst/>
              <a:rect l="l" t="t" r="r" b="b"/>
              <a:pathLst>
                <a:path w="12193905" h="6858000">
                  <a:moveTo>
                    <a:pt x="12193524" y="4361688"/>
                  </a:moveTo>
                  <a:lnTo>
                    <a:pt x="0" y="4361688"/>
                  </a:lnTo>
                  <a:lnTo>
                    <a:pt x="0" y="6858000"/>
                  </a:lnTo>
                  <a:lnTo>
                    <a:pt x="12193524" y="6858000"/>
                  </a:lnTo>
                  <a:lnTo>
                    <a:pt x="12193524" y="4361688"/>
                  </a:lnTo>
                  <a:close/>
                </a:path>
                <a:path w="12193905" h="6858000">
                  <a:moveTo>
                    <a:pt x="12193524" y="1889760"/>
                  </a:moveTo>
                  <a:lnTo>
                    <a:pt x="11858244" y="1889760"/>
                  </a:lnTo>
                  <a:lnTo>
                    <a:pt x="11858244" y="4338828"/>
                  </a:lnTo>
                  <a:lnTo>
                    <a:pt x="12193524" y="4338828"/>
                  </a:lnTo>
                  <a:lnTo>
                    <a:pt x="12193524" y="1889760"/>
                  </a:lnTo>
                  <a:close/>
                </a:path>
                <a:path w="12193905" h="6858000">
                  <a:moveTo>
                    <a:pt x="12193524" y="0"/>
                  </a:moveTo>
                  <a:lnTo>
                    <a:pt x="0" y="0"/>
                  </a:lnTo>
                  <a:lnTo>
                    <a:pt x="0" y="1866900"/>
                  </a:lnTo>
                  <a:lnTo>
                    <a:pt x="12193524" y="1866900"/>
                  </a:lnTo>
                  <a:lnTo>
                    <a:pt x="12193524" y="0"/>
                  </a:lnTo>
                  <a:close/>
                </a:path>
              </a:pathLst>
            </a:custGeom>
            <a:solidFill>
              <a:srgbClr val="00007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335279" y="728472"/>
              <a:ext cx="11523345" cy="5401310"/>
            </a:xfrm>
            <a:custGeom>
              <a:avLst/>
              <a:gdLst/>
              <a:ahLst/>
              <a:cxnLst/>
              <a:rect l="l" t="t" r="r" b="b"/>
              <a:pathLst>
                <a:path w="11523345" h="5401310">
                  <a:moveTo>
                    <a:pt x="11522964" y="5401056"/>
                  </a:moveTo>
                  <a:lnTo>
                    <a:pt x="0" y="5401056"/>
                  </a:lnTo>
                  <a:lnTo>
                    <a:pt x="0" y="0"/>
                  </a:lnTo>
                  <a:lnTo>
                    <a:pt x="11522964" y="0"/>
                  </a:lnTo>
                  <a:lnTo>
                    <a:pt x="11522964" y="54010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412" y="940308"/>
              <a:ext cx="2354580" cy="6979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80168" y="1036383"/>
              <a:ext cx="6325235" cy="576580"/>
            </a:xfrm>
            <a:custGeom>
              <a:avLst/>
              <a:gdLst/>
              <a:ahLst/>
              <a:cxnLst/>
              <a:rect l="l" t="t" r="r" b="b"/>
              <a:pathLst>
                <a:path w="6325234" h="576580">
                  <a:moveTo>
                    <a:pt x="9525" y="0"/>
                  </a:moveTo>
                  <a:lnTo>
                    <a:pt x="0" y="0"/>
                  </a:lnTo>
                  <a:lnTo>
                    <a:pt x="0" y="576008"/>
                  </a:lnTo>
                  <a:lnTo>
                    <a:pt x="9525" y="576008"/>
                  </a:lnTo>
                  <a:lnTo>
                    <a:pt x="9525" y="0"/>
                  </a:lnTo>
                  <a:close/>
                </a:path>
                <a:path w="6325234" h="576580">
                  <a:moveTo>
                    <a:pt x="2526068" y="0"/>
                  </a:moveTo>
                  <a:lnTo>
                    <a:pt x="2516543" y="0"/>
                  </a:lnTo>
                  <a:lnTo>
                    <a:pt x="2516543" y="576008"/>
                  </a:lnTo>
                  <a:lnTo>
                    <a:pt x="2526068" y="576008"/>
                  </a:lnTo>
                  <a:lnTo>
                    <a:pt x="2526068" y="0"/>
                  </a:lnTo>
                  <a:close/>
                </a:path>
                <a:path w="6325234" h="576580">
                  <a:moveTo>
                    <a:pt x="6324676" y="0"/>
                  </a:moveTo>
                  <a:lnTo>
                    <a:pt x="6315151" y="0"/>
                  </a:lnTo>
                  <a:lnTo>
                    <a:pt x="6315151" y="576008"/>
                  </a:lnTo>
                  <a:lnTo>
                    <a:pt x="6324676" y="576008"/>
                  </a:lnTo>
                  <a:lnTo>
                    <a:pt x="6324676" y="0"/>
                  </a:lnTo>
                  <a:close/>
                </a:path>
              </a:pathLst>
            </a:custGeom>
            <a:solidFill>
              <a:srgbClr val="0F2B6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629400" y="5324995"/>
            <a:ext cx="320579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600" spc="10" dirty="0">
                <a:solidFill>
                  <a:srgbClr val="000071"/>
                </a:solidFill>
                <a:latin typeface="Lucida Sans Unicode"/>
                <a:cs typeface="Lucida Sans Unicode"/>
              </a:rPr>
              <a:t>П</a:t>
            </a:r>
            <a:r>
              <a:rPr sz="1600" spc="10" dirty="0">
                <a:solidFill>
                  <a:srgbClr val="000071"/>
                </a:solidFill>
                <a:latin typeface="Lucida Sans Unicode"/>
                <a:cs typeface="Lucida Sans Unicode"/>
              </a:rPr>
              <a:t>реподаватель</a:t>
            </a:r>
            <a:r>
              <a:rPr sz="1600" spc="165" dirty="0">
                <a:solidFill>
                  <a:srgbClr val="000071"/>
                </a:solidFill>
                <a:latin typeface="Lucida Sans Unicode"/>
                <a:cs typeface="Lucida Sans Unicode"/>
              </a:rPr>
              <a:t> </a:t>
            </a:r>
            <a:r>
              <a:rPr sz="1600" spc="10" dirty="0" err="1">
                <a:solidFill>
                  <a:srgbClr val="000071"/>
                </a:solidFill>
                <a:latin typeface="Lucida Sans Unicode"/>
                <a:cs typeface="Lucida Sans Unicode"/>
              </a:rPr>
              <a:t>кафедры</a:t>
            </a:r>
            <a:r>
              <a:rPr sz="1600" spc="170" dirty="0">
                <a:solidFill>
                  <a:srgbClr val="000071"/>
                </a:solidFill>
                <a:latin typeface="Lucida Sans Unicode"/>
                <a:cs typeface="Lucida Sans Unicode"/>
              </a:rPr>
              <a:t> </a:t>
            </a:r>
            <a:r>
              <a:rPr lang="ru-RU" sz="1600" spc="25" dirty="0" err="1">
                <a:solidFill>
                  <a:srgbClr val="000071"/>
                </a:solidFill>
                <a:latin typeface="Lucida Sans Unicode"/>
                <a:cs typeface="Lucida Sans Unicode"/>
              </a:rPr>
              <a:t>ИиГТ</a:t>
            </a:r>
            <a:br>
              <a:rPr lang="en-US" sz="1600" spc="25" dirty="0">
                <a:solidFill>
                  <a:srgbClr val="000071"/>
                </a:solidFill>
                <a:latin typeface="Lucida Sans Unicode"/>
                <a:cs typeface="Lucida Sans Unicode"/>
              </a:rPr>
            </a:br>
            <a:r>
              <a:rPr lang="ru-RU" sz="1600" spc="25" dirty="0">
                <a:solidFill>
                  <a:srgbClr val="000071"/>
                </a:solidFill>
                <a:latin typeface="Lucida Sans Unicode"/>
                <a:cs typeface="Lucida Sans Unicode"/>
              </a:rPr>
              <a:t>Лебедев Евгений Денисович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74198" y="1047178"/>
            <a:ext cx="2259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Lucida Sans Unicode"/>
                <a:cs typeface="Lucida Sans Unicode"/>
              </a:rPr>
              <a:t>Факультет</a:t>
            </a:r>
            <a:r>
              <a:rPr sz="1200" spc="-20" dirty="0">
                <a:latin typeface="Lucida Sans Unicode"/>
                <a:cs typeface="Lucida Sans Unicode"/>
              </a:rPr>
              <a:t> </a:t>
            </a:r>
            <a:r>
              <a:rPr sz="1200" spc="-10" dirty="0">
                <a:latin typeface="Lucida Sans Unicode"/>
                <a:cs typeface="Lucida Sans Unicode"/>
              </a:rPr>
              <a:t>геоинформатики </a:t>
            </a:r>
            <a:r>
              <a:rPr sz="1200" spc="-50" dirty="0">
                <a:latin typeface="Lucida Sans Unicode"/>
                <a:cs typeface="Lucida Sans Unicode"/>
              </a:rPr>
              <a:t>и </a:t>
            </a:r>
            <a:r>
              <a:rPr sz="1200" spc="-10" dirty="0">
                <a:latin typeface="Lucida Sans Unicode"/>
                <a:cs typeface="Lucida Sans Unicode"/>
              </a:rPr>
              <a:t>информационной безопастности</a:t>
            </a:r>
            <a:r>
              <a:rPr lang="ru-RU" sz="1200" spc="-10" dirty="0">
                <a:latin typeface="Lucida Sans Unicode"/>
                <a:cs typeface="Lucida Sans Unicode"/>
              </a:rPr>
              <a:t> (ФГиИБ)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57839" y="1106179"/>
            <a:ext cx="228155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1200" dirty="0">
                <a:latin typeface="Lucida Sans Unicode"/>
                <a:cs typeface="Lucida Sans Unicode"/>
              </a:rPr>
              <a:t>Прикладная информатика 1</a:t>
            </a:r>
            <a:r>
              <a:rPr lang="en-US" sz="1200" dirty="0">
                <a:latin typeface="Lucida Sans Unicode"/>
                <a:cs typeface="Lucida Sans Unicode"/>
              </a:rPr>
              <a:t>, </a:t>
            </a:r>
            <a:r>
              <a:rPr lang="ru-RU" sz="1200" dirty="0">
                <a:latin typeface="Lucida Sans Unicode"/>
                <a:cs typeface="Lucida Sans Unicode"/>
              </a:rPr>
              <a:t>бакалавриат (ПИ-1б)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D7198E-0C6C-4C82-B5E9-27C96D8CC8B8}"/>
              </a:ext>
            </a:extLst>
          </p:cNvPr>
          <p:cNvSpPr txBox="1"/>
          <p:nvPr/>
        </p:nvSpPr>
        <p:spPr>
          <a:xfrm>
            <a:off x="795764" y="1978537"/>
            <a:ext cx="106004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000" b="0" i="0" dirty="0">
                <a:effectLst/>
                <a:latin typeface="Roboto" panose="02000000000000000000" pitchFamily="2" charset="0"/>
              </a:rPr>
              <a:t>Алгоритм решения пятнашек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6421B1-31F3-4EA1-8DE2-A13E9B0C982D}"/>
              </a:ext>
            </a:extLst>
          </p:cNvPr>
          <p:cNvSpPr txBox="1"/>
          <p:nvPr/>
        </p:nvSpPr>
        <p:spPr>
          <a:xfrm>
            <a:off x="6693852" y="4308038"/>
            <a:ext cx="62345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600" dirty="0">
                <a:solidFill>
                  <a:srgbClr val="000071"/>
                </a:solidFill>
                <a:latin typeface="Lucida Sans Unicode"/>
                <a:cs typeface="Lucida Sans Unicode"/>
              </a:rPr>
              <a:t>Губа Михаил Евгеньевич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B04D1E-F29A-4194-BBD1-8C2B0C1EB99A}"/>
              </a:ext>
            </a:extLst>
          </p:cNvPr>
          <p:cNvSpPr txBox="1"/>
          <p:nvPr/>
        </p:nvSpPr>
        <p:spPr>
          <a:xfrm>
            <a:off x="9999433" y="1111819"/>
            <a:ext cx="64590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Москва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, 2026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Sans Unicode"/>
              <a:cs typeface="Lucida Sans Unicode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70713AE1-B47D-45D6-B0C8-D5806ED8DF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788" y="5205799"/>
            <a:ext cx="1347502" cy="7430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56BEF-DA0C-402C-EA56-87E2B298D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A3754D6-4C1F-5858-A650-88EFE32E6F39}"/>
              </a:ext>
            </a:extLst>
          </p:cNvPr>
          <p:cNvSpPr txBox="1"/>
          <p:nvPr/>
        </p:nvSpPr>
        <p:spPr>
          <a:xfrm>
            <a:off x="11228260" y="392849"/>
            <a:ext cx="180340" cy="4238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2650" spc="-320" dirty="0">
                <a:solidFill>
                  <a:srgbClr val="000071"/>
                </a:solidFill>
                <a:latin typeface="Arial MT"/>
                <a:cs typeface="Arial MT"/>
              </a:rPr>
              <a:t>1</a:t>
            </a:r>
            <a:endParaRPr sz="2650" dirty="0">
              <a:latin typeface="Arial MT"/>
              <a:cs typeface="Arial M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4B2BE1D-F58F-B1EE-30FF-68F6224A74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993" y="360592"/>
            <a:ext cx="1252265" cy="319246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7A2C0C3F-7B80-6291-6FF5-9E92592AD924}"/>
              </a:ext>
            </a:extLst>
          </p:cNvPr>
          <p:cNvSpPr/>
          <p:nvPr/>
        </p:nvSpPr>
        <p:spPr>
          <a:xfrm>
            <a:off x="2307755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40B5BE1-F6B6-B12E-B44B-01664490FC28}"/>
              </a:ext>
            </a:extLst>
          </p:cNvPr>
          <p:cNvSpPr/>
          <p:nvPr/>
        </p:nvSpPr>
        <p:spPr>
          <a:xfrm>
            <a:off x="4824298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C50FDE0-FD71-63EC-F6F9-D2D4DD76D7DB}"/>
              </a:ext>
            </a:extLst>
          </p:cNvPr>
          <p:cNvSpPr/>
          <p:nvPr/>
        </p:nvSpPr>
        <p:spPr>
          <a:xfrm>
            <a:off x="7621016" y="320446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6008"/>
                </a:moveTo>
                <a:lnTo>
                  <a:pt x="0" y="576008"/>
                </a:lnTo>
                <a:lnTo>
                  <a:pt x="0" y="0"/>
                </a:lnTo>
                <a:lnTo>
                  <a:pt x="9525" y="0"/>
                </a:lnTo>
                <a:lnTo>
                  <a:pt x="9525" y="576008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B46703D-A9D1-9872-823F-EB7E7BA7FBC3}"/>
              </a:ext>
            </a:extLst>
          </p:cNvPr>
          <p:cNvSpPr txBox="1"/>
          <p:nvPr/>
        </p:nvSpPr>
        <p:spPr>
          <a:xfrm>
            <a:off x="4921655" y="442665"/>
            <a:ext cx="22009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Алгоритм решения пятнашек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63BCDB8-C5E5-7A7C-F0F8-E11705E4C71D}"/>
              </a:ext>
            </a:extLst>
          </p:cNvPr>
          <p:cNvSpPr txBox="1"/>
          <p:nvPr/>
        </p:nvSpPr>
        <p:spPr>
          <a:xfrm>
            <a:off x="7718373" y="455701"/>
            <a:ext cx="18891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Пояснение</a:t>
            </a:r>
            <a:endParaRPr sz="1000" i="1" dirty="0">
              <a:latin typeface="Lucida Sans Unicode"/>
              <a:cs typeface="Lucida Sans Unicode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D11278FA-1C55-6D9E-2428-69B458A05CCA}"/>
              </a:ext>
            </a:extLst>
          </p:cNvPr>
          <p:cNvSpPr txBox="1"/>
          <p:nvPr/>
        </p:nvSpPr>
        <p:spPr>
          <a:xfrm>
            <a:off x="2401785" y="444817"/>
            <a:ext cx="19050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spc="50" dirty="0">
                <a:latin typeface="Arial"/>
                <a:cs typeface="Arial"/>
              </a:rPr>
              <a:t>Прикладная информатика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02B53C64-CC42-31CB-DB58-24D8E692C31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25000" y="6218903"/>
            <a:ext cx="2252611" cy="173766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55"/>
              </a:spcBef>
            </a:pPr>
            <a:r>
              <a:rPr lang="ru-RU" dirty="0"/>
              <a:t>Губа Михаил</a:t>
            </a:r>
            <a:endParaRPr lang="ru-RU" spc="-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C71387-4C53-8856-D102-85D21306F958}"/>
              </a:ext>
            </a:extLst>
          </p:cNvPr>
          <p:cNvSpPr txBox="1"/>
          <p:nvPr/>
        </p:nvSpPr>
        <p:spPr>
          <a:xfrm>
            <a:off x="3430847" y="1163360"/>
            <a:ext cx="53303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Roboto" panose="02000000000000000000" pitchFamily="2" charset="0"/>
                <a:ea typeface="Roboto" panose="02000000000000000000" pitchFamily="2" charset="0"/>
              </a:rPr>
              <a:t>Что такое пятнашки?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9AB55E-97C9-D622-AE47-99D88FEEB98D}"/>
              </a:ext>
            </a:extLst>
          </p:cNvPr>
          <p:cNvSpPr txBox="1"/>
          <p:nvPr/>
        </p:nvSpPr>
        <p:spPr>
          <a:xfrm>
            <a:off x="954810" y="2590800"/>
            <a:ext cx="10134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Пятнашки — популярная головоломка, придуманная в 1878 году Ноем </a:t>
            </a:r>
            <a:r>
              <a:rPr lang="ru-RU" dirty="0" err="1"/>
              <a:t>Чепмэном</a:t>
            </a:r>
            <a:r>
              <a:rPr lang="ru-RU" dirty="0"/>
              <a:t>. Представляет собой набор одинаковых квадратных костяшек с нанесёнными числами, заключённых в квадратную коробку. Длина стороны коробки в четыре раза больше длины стороны костяшек для набора из 15 элементов (и в три раза больше для набора в 8 элементов), соответственно в коробке остаётся незаполненным одно квадратное поле. Цель игры — перемещая костяшки по коробке добиться упорядочивания их по номерам, желательно сделав как можно меньше перемещений.</a:t>
            </a:r>
          </a:p>
        </p:txBody>
      </p:sp>
    </p:spTree>
    <p:extLst>
      <p:ext uri="{BB962C8B-B14F-4D97-AF65-F5344CB8AC3E}">
        <p14:creationId xmlns:p14="http://schemas.microsoft.com/office/powerpoint/2010/main" val="3041936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28260" y="392849"/>
            <a:ext cx="180340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2650" spc="-320" dirty="0">
                <a:solidFill>
                  <a:srgbClr val="000071"/>
                </a:solidFill>
                <a:latin typeface="Arial MT"/>
                <a:cs typeface="Arial MT"/>
              </a:rPr>
              <a:t>2</a:t>
            </a:r>
            <a:endParaRPr sz="265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993" y="360592"/>
            <a:ext cx="1252265" cy="31924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307755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24298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21016" y="320446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6008"/>
                </a:moveTo>
                <a:lnTo>
                  <a:pt x="0" y="576008"/>
                </a:lnTo>
                <a:lnTo>
                  <a:pt x="0" y="0"/>
                </a:lnTo>
                <a:lnTo>
                  <a:pt x="9525" y="0"/>
                </a:lnTo>
                <a:lnTo>
                  <a:pt x="9525" y="576008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21655" y="444817"/>
            <a:ext cx="22009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Алгоритм решения пятнашек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718373" y="455701"/>
            <a:ext cx="18891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Методы решения</a:t>
            </a:r>
            <a:endParaRPr sz="1000" i="1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01785" y="444817"/>
            <a:ext cx="19050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spc="50" dirty="0">
                <a:latin typeface="Arial"/>
                <a:cs typeface="Arial"/>
              </a:rPr>
              <a:t>Прикладная информатика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9525000" y="6218903"/>
            <a:ext cx="2252611" cy="173766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55"/>
              </a:spcBef>
            </a:pPr>
            <a:r>
              <a:rPr lang="ru-RU" dirty="0"/>
              <a:t>Губа Михаил</a:t>
            </a:r>
            <a:endParaRPr lang="ru-RU" spc="-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CAC30-0C33-4D71-89EB-9CD0B526BFEC}"/>
              </a:ext>
            </a:extLst>
          </p:cNvPr>
          <p:cNvSpPr txBox="1"/>
          <p:nvPr/>
        </p:nvSpPr>
        <p:spPr>
          <a:xfrm>
            <a:off x="3962400" y="1181006"/>
            <a:ext cx="44021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Roboto" panose="02000000000000000000" pitchFamily="2" charset="0"/>
                <a:ea typeface="Roboto" panose="02000000000000000000" pitchFamily="2" charset="0"/>
              </a:rPr>
              <a:t>Методы решения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C0C7CF-3568-4F54-B569-B72AE86F0C7E}"/>
              </a:ext>
            </a:extLst>
          </p:cNvPr>
          <p:cNvSpPr txBox="1"/>
          <p:nvPr/>
        </p:nvSpPr>
        <p:spPr>
          <a:xfrm>
            <a:off x="1003124" y="2178681"/>
            <a:ext cx="78360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Самым удобным методом для решения пятнашек это решение через</a:t>
            </a:r>
            <a:r>
              <a:rPr lang="en-US" dirty="0"/>
              <a:t> </a:t>
            </a:r>
            <a:r>
              <a:rPr lang="ru-RU" dirty="0"/>
              <a:t>алгоритм поиска кратчайшего пути - </a:t>
            </a:r>
            <a:r>
              <a:rPr lang="en-US" b="1" dirty="0"/>
              <a:t>A*</a:t>
            </a:r>
            <a:r>
              <a:rPr lang="ru-RU" dirty="0"/>
              <a:t>. Подробно о решении этим методом написано в </a:t>
            </a:r>
            <a:r>
              <a:rPr lang="ru-RU" dirty="0">
                <a:hlinkClick r:id="rId3"/>
              </a:rPr>
              <a:t>этой статье</a:t>
            </a:r>
            <a:r>
              <a:rPr lang="ru-RU" dirty="0"/>
              <a:t> (</a:t>
            </a:r>
            <a:r>
              <a:rPr lang="en-US" dirty="0"/>
              <a:t>dokwork.ru</a:t>
            </a:r>
            <a:r>
              <a:rPr lang="ru-RU" dirty="0"/>
              <a:t>).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Помимо </a:t>
            </a:r>
            <a:r>
              <a:rPr lang="en-US" dirty="0"/>
              <a:t>A* </a:t>
            </a:r>
            <a:r>
              <a:rPr lang="ru-RU" dirty="0"/>
              <a:t>есть и другие методы, например: алгоритм поиска в ширину(</a:t>
            </a:r>
            <a:r>
              <a:rPr lang="en-US" dirty="0"/>
              <a:t>BFS)</a:t>
            </a:r>
            <a:r>
              <a:rPr lang="ru-RU" dirty="0"/>
              <a:t>, </a:t>
            </a:r>
            <a:r>
              <a:rPr lang="en-US" dirty="0"/>
              <a:t>Iterative Deepening A</a:t>
            </a:r>
            <a:r>
              <a:rPr lang="ru-RU" dirty="0"/>
              <a:t>(поиск в глубину с итеративным углублением) и др. Подробнее о всех этих методах написано здесь:</a:t>
            </a:r>
          </a:p>
          <a:p>
            <a:r>
              <a:rPr lang="ru-RU" dirty="0">
                <a:hlinkClick r:id="rId4"/>
              </a:rPr>
              <a:t>Про решаемость пятнашек</a:t>
            </a:r>
            <a:r>
              <a:rPr lang="ru-RU" dirty="0"/>
              <a:t> (</a:t>
            </a:r>
            <a:r>
              <a:rPr lang="en-US" dirty="0"/>
              <a:t>habr.com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>
                <a:hlinkClick r:id="rId5"/>
              </a:rPr>
              <a:t>Игра в 15</a:t>
            </a:r>
            <a:r>
              <a:rPr lang="ru-RU" dirty="0"/>
              <a:t> (</a:t>
            </a:r>
            <a:r>
              <a:rPr lang="en-US" dirty="0"/>
              <a:t>ru.wikipedia.org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82115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5E506-6B60-08EF-6C2D-EE5855ADF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F2F2A8-E3F7-996D-9D57-A48D0A509E13}"/>
              </a:ext>
            </a:extLst>
          </p:cNvPr>
          <p:cNvSpPr txBox="1"/>
          <p:nvPr/>
        </p:nvSpPr>
        <p:spPr>
          <a:xfrm>
            <a:off x="11228260" y="392849"/>
            <a:ext cx="180340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2650" spc="-320" dirty="0">
                <a:solidFill>
                  <a:srgbClr val="000071"/>
                </a:solidFill>
                <a:latin typeface="Arial MT"/>
                <a:cs typeface="Arial MT"/>
              </a:rPr>
              <a:t>3</a:t>
            </a:r>
            <a:endParaRPr sz="2650" dirty="0">
              <a:latin typeface="Arial MT"/>
              <a:cs typeface="Arial M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1EC2965-FF11-248E-D781-D499BFDCA3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993" y="360592"/>
            <a:ext cx="1252265" cy="319246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51660E63-E509-652F-73BB-B8275CB82C0A}"/>
              </a:ext>
            </a:extLst>
          </p:cNvPr>
          <p:cNvSpPr/>
          <p:nvPr/>
        </p:nvSpPr>
        <p:spPr>
          <a:xfrm>
            <a:off x="2307755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05FD6AE-D9F7-A909-E399-87409F83DACB}"/>
              </a:ext>
            </a:extLst>
          </p:cNvPr>
          <p:cNvSpPr/>
          <p:nvPr/>
        </p:nvSpPr>
        <p:spPr>
          <a:xfrm>
            <a:off x="4824298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9272AC8-F31D-A9DC-3882-82B9529949A7}"/>
              </a:ext>
            </a:extLst>
          </p:cNvPr>
          <p:cNvSpPr/>
          <p:nvPr/>
        </p:nvSpPr>
        <p:spPr>
          <a:xfrm>
            <a:off x="7621016" y="320446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6008"/>
                </a:moveTo>
                <a:lnTo>
                  <a:pt x="0" y="576008"/>
                </a:lnTo>
                <a:lnTo>
                  <a:pt x="0" y="0"/>
                </a:lnTo>
                <a:lnTo>
                  <a:pt x="9525" y="0"/>
                </a:lnTo>
                <a:lnTo>
                  <a:pt x="9525" y="576008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1F0D832-E982-5A0F-75C5-64464BC33D0F}"/>
              </a:ext>
            </a:extLst>
          </p:cNvPr>
          <p:cNvSpPr txBox="1"/>
          <p:nvPr/>
        </p:nvSpPr>
        <p:spPr>
          <a:xfrm>
            <a:off x="4921655" y="444817"/>
            <a:ext cx="22009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Алгоритм решения пятнашек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1CE30E9-085E-7CD5-C329-414CD2C7CB6A}"/>
              </a:ext>
            </a:extLst>
          </p:cNvPr>
          <p:cNvSpPr txBox="1"/>
          <p:nvPr/>
        </p:nvSpPr>
        <p:spPr>
          <a:xfrm>
            <a:off x="7718373" y="455701"/>
            <a:ext cx="18891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Методы решения</a:t>
            </a:r>
            <a:endParaRPr sz="1000" i="1" dirty="0">
              <a:latin typeface="Lucida Sans Unicode"/>
              <a:cs typeface="Lucida Sans Unicode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65B708D-D8A2-5265-B9C1-4C3D1D595E24}"/>
              </a:ext>
            </a:extLst>
          </p:cNvPr>
          <p:cNvSpPr txBox="1"/>
          <p:nvPr/>
        </p:nvSpPr>
        <p:spPr>
          <a:xfrm>
            <a:off x="2401785" y="444817"/>
            <a:ext cx="19050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spc="50" dirty="0">
                <a:latin typeface="Arial"/>
                <a:cs typeface="Arial"/>
              </a:rPr>
              <a:t>Прикладная информатика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D85C73B-4F02-BA65-28AE-10819999465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25000" y="6218903"/>
            <a:ext cx="2252611" cy="173766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55"/>
              </a:spcBef>
            </a:pPr>
            <a:r>
              <a:rPr lang="ru-RU" dirty="0"/>
              <a:t>Губа Михаил</a:t>
            </a:r>
            <a:endParaRPr lang="ru-RU" spc="-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648A-1BD7-8AB2-EB3C-578A39385E24}"/>
              </a:ext>
            </a:extLst>
          </p:cNvPr>
          <p:cNvSpPr txBox="1"/>
          <p:nvPr/>
        </p:nvSpPr>
        <p:spPr>
          <a:xfrm>
            <a:off x="3962400" y="1173026"/>
            <a:ext cx="44021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Roboto" panose="02000000000000000000" pitchFamily="2" charset="0"/>
                <a:ea typeface="Roboto" panose="02000000000000000000" pitchFamily="2" charset="0"/>
              </a:rPr>
              <a:t>Методы решения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DD9AB4-8363-6D43-AD47-440C6B64CD7C}"/>
              </a:ext>
            </a:extLst>
          </p:cNvPr>
          <p:cNvSpPr txBox="1"/>
          <p:nvPr/>
        </p:nvSpPr>
        <p:spPr>
          <a:xfrm>
            <a:off x="1003124" y="2178681"/>
            <a:ext cx="78360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A* — это алгоритм поиска пути, находящий кратчайший путь от начальной вершины до целевой в графе, используя эвристическую функцию для оценки стоимости.</a:t>
            </a:r>
            <a:endParaRPr lang="ru-RU" b="1" dirty="0"/>
          </a:p>
          <a:p>
            <a:endParaRPr lang="ru-RU" b="1" dirty="0"/>
          </a:p>
          <a:p>
            <a:r>
              <a:rPr lang="ru-RU" dirty="0"/>
              <a:t>Эвристика Манхэттена показывает, сколько клеток нужно пройти плитке до правильной позиции.</a:t>
            </a:r>
          </a:p>
          <a:p>
            <a:r>
              <a:rPr lang="en-US" dirty="0"/>
              <a:t>|x1 - x2| + |y1 - y2|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986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AB494-B4A6-2230-02D7-140AF5CD0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FE2607A-F5B4-9728-C42E-678616AAF430}"/>
              </a:ext>
            </a:extLst>
          </p:cNvPr>
          <p:cNvSpPr txBox="1"/>
          <p:nvPr/>
        </p:nvSpPr>
        <p:spPr>
          <a:xfrm>
            <a:off x="11228260" y="392849"/>
            <a:ext cx="180340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2650" spc="-320" dirty="0">
                <a:solidFill>
                  <a:srgbClr val="000071"/>
                </a:solidFill>
                <a:latin typeface="Arial MT"/>
                <a:cs typeface="Arial MT"/>
              </a:rPr>
              <a:t>4</a:t>
            </a:r>
            <a:endParaRPr sz="2650" dirty="0">
              <a:latin typeface="Arial MT"/>
              <a:cs typeface="Arial M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A130411-2323-FF1E-9619-3929A52AF16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993" y="360592"/>
            <a:ext cx="1252265" cy="319246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9F02B37C-AF7D-4868-0DD0-EEC740EBA4F8}"/>
              </a:ext>
            </a:extLst>
          </p:cNvPr>
          <p:cNvSpPr/>
          <p:nvPr/>
        </p:nvSpPr>
        <p:spPr>
          <a:xfrm>
            <a:off x="2307755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A4D5FD8-FF18-1DB2-F0AF-3AE724110FF7}"/>
              </a:ext>
            </a:extLst>
          </p:cNvPr>
          <p:cNvSpPr/>
          <p:nvPr/>
        </p:nvSpPr>
        <p:spPr>
          <a:xfrm>
            <a:off x="4824298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9504208-6724-E89C-32C8-11637CFECCD4}"/>
              </a:ext>
            </a:extLst>
          </p:cNvPr>
          <p:cNvSpPr/>
          <p:nvPr/>
        </p:nvSpPr>
        <p:spPr>
          <a:xfrm>
            <a:off x="7621016" y="320446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6008"/>
                </a:moveTo>
                <a:lnTo>
                  <a:pt x="0" y="576008"/>
                </a:lnTo>
                <a:lnTo>
                  <a:pt x="0" y="0"/>
                </a:lnTo>
                <a:lnTo>
                  <a:pt x="9525" y="0"/>
                </a:lnTo>
                <a:lnTo>
                  <a:pt x="9525" y="576008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9681D00-E01C-705C-3041-D48A91B317B8}"/>
              </a:ext>
            </a:extLst>
          </p:cNvPr>
          <p:cNvSpPr txBox="1"/>
          <p:nvPr/>
        </p:nvSpPr>
        <p:spPr>
          <a:xfrm>
            <a:off x="4921655" y="444817"/>
            <a:ext cx="22009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Алгоритм решения пятнашек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A5E424F-9EE4-3005-D5E2-7BEF7E069204}"/>
              </a:ext>
            </a:extLst>
          </p:cNvPr>
          <p:cNvSpPr txBox="1"/>
          <p:nvPr/>
        </p:nvSpPr>
        <p:spPr>
          <a:xfrm>
            <a:off x="7718373" y="455701"/>
            <a:ext cx="18891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Методы решения</a:t>
            </a:r>
            <a:endParaRPr sz="1000" i="1" dirty="0">
              <a:latin typeface="Lucida Sans Unicode"/>
              <a:cs typeface="Lucida Sans Unicode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81EABA79-B5B8-BEE1-324E-A51F6CD61F7F}"/>
              </a:ext>
            </a:extLst>
          </p:cNvPr>
          <p:cNvSpPr txBox="1"/>
          <p:nvPr/>
        </p:nvSpPr>
        <p:spPr>
          <a:xfrm>
            <a:off x="2401785" y="444817"/>
            <a:ext cx="19050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spc="50" dirty="0">
                <a:latin typeface="Arial"/>
                <a:cs typeface="Arial"/>
              </a:rPr>
              <a:t>Прикладная информатика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F6FAFB92-7891-3803-4471-6F60FA3365E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25000" y="6218903"/>
            <a:ext cx="2252611" cy="173766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55"/>
              </a:spcBef>
            </a:pPr>
            <a:r>
              <a:rPr lang="ru-RU" dirty="0"/>
              <a:t>Губа Михаил</a:t>
            </a:r>
            <a:endParaRPr lang="ru-RU" spc="-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5B7BF7-7F1F-00B7-0E9F-EFB8E85C42C2}"/>
              </a:ext>
            </a:extLst>
          </p:cNvPr>
          <p:cNvSpPr txBox="1"/>
          <p:nvPr/>
        </p:nvSpPr>
        <p:spPr>
          <a:xfrm>
            <a:off x="3962400" y="1173026"/>
            <a:ext cx="44021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Roboto" panose="02000000000000000000" pitchFamily="2" charset="0"/>
                <a:ea typeface="Roboto" panose="02000000000000000000" pitchFamily="2" charset="0"/>
              </a:rPr>
              <a:t>Методы решения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DD5924-2A05-F933-514E-3E88DD8C10D7}"/>
                  </a:ext>
                </a:extLst>
              </p:cNvPr>
              <p:cNvSpPr txBox="1"/>
              <p:nvPr/>
            </p:nvSpPr>
            <p:spPr>
              <a:xfrm>
                <a:off x="774509" y="1981200"/>
                <a:ext cx="3254552" cy="3570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dirty="0"/>
                  <a:t>Алгоритм А* работает на графе состояний. Он строит графы состояний, оценивает вершины и выбирает наиболее выгодный путь. Для каждой вершины считается: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6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1600" i="1" dirty="0"/>
              </a:p>
              <a:p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600" dirty="0"/>
                  <a:t> - c</a:t>
                </a:r>
                <a:r>
                  <a:rPr lang="ru-RU" sz="1600" dirty="0"/>
                  <a:t>колько ходов уже сделано</a:t>
                </a:r>
              </a:p>
              <a:p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u-RU" sz="1600" dirty="0"/>
                  <a:t> - это эвристика (в проекте Манхэттена) которая считает насколько текущее состояние далеко от решения</a:t>
                </a:r>
              </a:p>
              <a:p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u-RU" sz="1600" dirty="0"/>
                  <a:t> - общая оценка вершины</a:t>
                </a:r>
                <a:br>
                  <a:rPr lang="ru-RU" dirty="0"/>
                </a:br>
                <a:endParaRPr lang="ru-R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DD5924-2A05-F933-514E-3E88DD8C1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09" y="1981200"/>
                <a:ext cx="3254552" cy="3570208"/>
              </a:xfrm>
              <a:prstGeom prst="rect">
                <a:avLst/>
              </a:prstGeom>
              <a:blipFill>
                <a:blip r:embed="rId3"/>
                <a:stretch>
                  <a:fillRect l="-936" t="-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48F8B84-F8C9-6739-3CA7-6A9D653329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978572"/>
            <a:ext cx="5867400" cy="390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6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28260" y="392849"/>
            <a:ext cx="180340" cy="4238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2650" spc="-320" dirty="0">
                <a:solidFill>
                  <a:srgbClr val="000071"/>
                </a:solidFill>
                <a:latin typeface="Arial MT"/>
                <a:cs typeface="Arial MT"/>
              </a:rPr>
              <a:t>5</a:t>
            </a:r>
            <a:endParaRPr sz="265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993" y="360592"/>
            <a:ext cx="1252265" cy="31924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307755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24298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21016" y="320446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6008"/>
                </a:moveTo>
                <a:lnTo>
                  <a:pt x="0" y="576008"/>
                </a:lnTo>
                <a:lnTo>
                  <a:pt x="0" y="0"/>
                </a:lnTo>
                <a:lnTo>
                  <a:pt x="9525" y="0"/>
                </a:lnTo>
                <a:lnTo>
                  <a:pt x="9525" y="576008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16716" y="440276"/>
            <a:ext cx="22009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Алгоритм решения пятнашек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718373" y="455701"/>
            <a:ext cx="18891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Средства реализации</a:t>
            </a:r>
            <a:endParaRPr sz="1000" i="1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01785" y="444817"/>
            <a:ext cx="19050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spc="50" dirty="0">
                <a:latin typeface="Arial"/>
                <a:cs typeface="Arial"/>
              </a:rPr>
              <a:t>Прикладная информатика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9525000" y="6218903"/>
            <a:ext cx="2252611" cy="173766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55"/>
              </a:spcBef>
            </a:pPr>
            <a:r>
              <a:rPr lang="ru-RU" dirty="0"/>
              <a:t>Губа Михаил</a:t>
            </a:r>
            <a:endParaRPr lang="ru-RU" spc="-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CAC30-0C33-4D71-89EB-9CD0B526BFEC}"/>
              </a:ext>
            </a:extLst>
          </p:cNvPr>
          <p:cNvSpPr txBox="1"/>
          <p:nvPr/>
        </p:nvSpPr>
        <p:spPr>
          <a:xfrm>
            <a:off x="3354285" y="1046454"/>
            <a:ext cx="54745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Roboto" panose="02000000000000000000" pitchFamily="2" charset="0"/>
                <a:ea typeface="Roboto" panose="02000000000000000000" pitchFamily="2" charset="0"/>
              </a:rPr>
              <a:t>Средства реализации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C0C7CF-3568-4F54-B569-B72AE86F0C7E}"/>
              </a:ext>
            </a:extLst>
          </p:cNvPr>
          <p:cNvSpPr txBox="1"/>
          <p:nvPr/>
        </p:nvSpPr>
        <p:spPr>
          <a:xfrm>
            <a:off x="914400" y="2195161"/>
            <a:ext cx="4562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реализации алгоритма был использован язык программирования </a:t>
            </a:r>
            <a:r>
              <a:rPr lang="en-US" dirty="0"/>
              <a:t>Python </a:t>
            </a:r>
            <a:r>
              <a:rPr lang="ru-RU" dirty="0"/>
              <a:t>версии </a:t>
            </a:r>
            <a:r>
              <a:rPr lang="en-US" dirty="0"/>
              <a:t>3.</a:t>
            </a:r>
            <a:r>
              <a:rPr lang="ru-RU" dirty="0"/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52644C-84A5-457C-B52F-0D7345CC3D32}"/>
              </a:ext>
            </a:extLst>
          </p:cNvPr>
          <p:cNvSpPr txBox="1"/>
          <p:nvPr/>
        </p:nvSpPr>
        <p:spPr>
          <a:xfrm>
            <a:off x="914400" y="3538291"/>
            <a:ext cx="487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библиотеки: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tkinter</a:t>
            </a:r>
            <a:r>
              <a:rPr lang="ru-RU" dirty="0"/>
              <a:t> — графический интерфейс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heapq</a:t>
            </a:r>
            <a:r>
              <a:rPr lang="ru-RU" dirty="0"/>
              <a:t> — очередь с приоритетом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random</a:t>
            </a:r>
            <a:r>
              <a:rPr lang="ru-RU" dirty="0"/>
              <a:t> — генерация случайного пазла</a:t>
            </a:r>
          </a:p>
        </p:txBody>
      </p:sp>
    </p:spTree>
    <p:extLst>
      <p:ext uri="{BB962C8B-B14F-4D97-AF65-F5344CB8AC3E}">
        <p14:creationId xmlns:p14="http://schemas.microsoft.com/office/powerpoint/2010/main" val="3770097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28260" y="392849"/>
            <a:ext cx="180340" cy="4238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2650" spc="-320" dirty="0">
                <a:solidFill>
                  <a:srgbClr val="000071"/>
                </a:solidFill>
                <a:latin typeface="Arial MT"/>
                <a:cs typeface="Arial MT"/>
              </a:rPr>
              <a:t>6</a:t>
            </a:r>
            <a:endParaRPr sz="265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993" y="360592"/>
            <a:ext cx="1252265" cy="31924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307755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24298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21016" y="320446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6008"/>
                </a:moveTo>
                <a:lnTo>
                  <a:pt x="0" y="576008"/>
                </a:lnTo>
                <a:lnTo>
                  <a:pt x="0" y="0"/>
                </a:lnTo>
                <a:lnTo>
                  <a:pt x="9525" y="0"/>
                </a:lnTo>
                <a:lnTo>
                  <a:pt x="9525" y="576008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21655" y="444816"/>
            <a:ext cx="22009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Алгоритм решения пятнашек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401785" y="444817"/>
            <a:ext cx="19050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spc="50" dirty="0">
                <a:latin typeface="Arial"/>
                <a:cs typeface="Arial"/>
              </a:rPr>
              <a:t>Прикладная информатика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9525000" y="6218903"/>
            <a:ext cx="2252611" cy="173766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55"/>
              </a:spcBef>
            </a:pPr>
            <a:r>
              <a:rPr lang="ru-RU" dirty="0"/>
              <a:t>Губа Михаил</a:t>
            </a:r>
            <a:endParaRPr lang="ru-RU" spc="-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78808C-FE4C-4880-8B20-3EB8C9AACF3F}"/>
              </a:ext>
            </a:extLst>
          </p:cNvPr>
          <p:cNvSpPr txBox="1"/>
          <p:nvPr/>
        </p:nvSpPr>
        <p:spPr>
          <a:xfrm>
            <a:off x="2307755" y="972491"/>
            <a:ext cx="72811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Roboto" panose="02000000000000000000" pitchFamily="2" charset="0"/>
                <a:ea typeface="Roboto" panose="02000000000000000000" pitchFamily="2" charset="0"/>
              </a:rPr>
              <a:t>Блок-схема главной функции</a:t>
            </a: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29F7C9C3-36EE-4C68-A012-4CF853462AC0}"/>
              </a:ext>
            </a:extLst>
          </p:cNvPr>
          <p:cNvSpPr txBox="1"/>
          <p:nvPr/>
        </p:nvSpPr>
        <p:spPr>
          <a:xfrm>
            <a:off x="7718373" y="455701"/>
            <a:ext cx="18891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 err="1">
                <a:latin typeface="Lucida Sans Unicode"/>
                <a:cs typeface="Lucida Sans Unicode"/>
              </a:rPr>
              <a:t>Бэкэнд</a:t>
            </a:r>
            <a:endParaRPr lang="ru-RU" sz="1000" i="1" dirty="0">
              <a:latin typeface="Lucida Sans Unicode"/>
              <a:cs typeface="Lucida Sans Unicode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38FB4E-AD31-479C-A393-CE7118B3E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533" y="1766726"/>
            <a:ext cx="4261897" cy="417708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65DFD56-098F-A296-3355-34456E4DF1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95" y="1680377"/>
            <a:ext cx="4738573" cy="448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689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28260" y="392849"/>
            <a:ext cx="180340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2650" spc="-320" dirty="0">
                <a:solidFill>
                  <a:srgbClr val="000071"/>
                </a:solidFill>
                <a:latin typeface="Arial MT"/>
                <a:cs typeface="Arial MT"/>
              </a:rPr>
              <a:t>7</a:t>
            </a:r>
            <a:endParaRPr sz="265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993" y="360592"/>
            <a:ext cx="1252265" cy="31924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307755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24298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21016" y="320446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6008"/>
                </a:moveTo>
                <a:lnTo>
                  <a:pt x="0" y="576008"/>
                </a:lnTo>
                <a:lnTo>
                  <a:pt x="0" y="0"/>
                </a:lnTo>
                <a:lnTo>
                  <a:pt x="9525" y="0"/>
                </a:lnTo>
                <a:lnTo>
                  <a:pt x="9525" y="576008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21655" y="447801"/>
            <a:ext cx="22009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Алгоритм решения пятнашек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79941" y="444817"/>
            <a:ext cx="18891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Описание интерфейса</a:t>
            </a:r>
            <a:endParaRPr sz="1000" i="1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01785" y="444817"/>
            <a:ext cx="19050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spc="50" dirty="0">
                <a:latin typeface="Arial"/>
                <a:cs typeface="Arial"/>
              </a:rPr>
              <a:t>Прикладная информатика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9525000" y="6218903"/>
            <a:ext cx="2252611" cy="173766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55"/>
              </a:spcBef>
            </a:pPr>
            <a:r>
              <a:rPr lang="ru-RU" dirty="0"/>
              <a:t>Губа Михаил</a:t>
            </a:r>
            <a:endParaRPr lang="ru-RU" spc="-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CAC30-0C33-4D71-89EB-9CD0B526BFEC}"/>
              </a:ext>
            </a:extLst>
          </p:cNvPr>
          <p:cNvSpPr txBox="1"/>
          <p:nvPr/>
        </p:nvSpPr>
        <p:spPr>
          <a:xfrm>
            <a:off x="1843072" y="979040"/>
            <a:ext cx="85058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Roboto" panose="02000000000000000000" pitchFamily="2" charset="0"/>
                <a:ea typeface="Roboto" panose="02000000000000000000" pitchFamily="2" charset="0"/>
              </a:rPr>
              <a:t>Описание интерфейса программы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F1C603-28A1-4FFA-82CA-4D4FB9CCC72B}"/>
              </a:ext>
            </a:extLst>
          </p:cNvPr>
          <p:cNvSpPr txBox="1"/>
          <p:nvPr/>
        </p:nvSpPr>
        <p:spPr>
          <a:xfrm>
            <a:off x="1066800" y="2052094"/>
            <a:ext cx="5410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После запуска приложения через консоль: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Создается случайный пазл формата 4</a:t>
            </a:r>
            <a:r>
              <a:rPr lang="en-US" dirty="0"/>
              <a:t>x4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Автоматически показывается решение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Отображаются все шаги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Отображается необходимое количество шагов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A80475F-19F3-91FC-06AC-BA5EE9035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787120"/>
            <a:ext cx="3392847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670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081EC-4323-4F8B-74FC-C456D9AC5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859F6BC-A8E1-B618-E753-98C448312FE4}"/>
              </a:ext>
            </a:extLst>
          </p:cNvPr>
          <p:cNvSpPr txBox="1"/>
          <p:nvPr/>
        </p:nvSpPr>
        <p:spPr>
          <a:xfrm>
            <a:off x="11228260" y="392849"/>
            <a:ext cx="180340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2650" spc="-320" dirty="0">
                <a:solidFill>
                  <a:srgbClr val="000071"/>
                </a:solidFill>
                <a:latin typeface="Arial MT"/>
                <a:cs typeface="Arial MT"/>
              </a:rPr>
              <a:t>8</a:t>
            </a:r>
            <a:endParaRPr sz="2650" dirty="0">
              <a:latin typeface="Arial MT"/>
              <a:cs typeface="Arial M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8275AEF-05EE-C971-E333-DBA959BB2D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993" y="360592"/>
            <a:ext cx="1252265" cy="319246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B9D7438E-99E1-86D5-E277-5BC84D877176}"/>
              </a:ext>
            </a:extLst>
          </p:cNvPr>
          <p:cNvSpPr/>
          <p:nvPr/>
        </p:nvSpPr>
        <p:spPr>
          <a:xfrm>
            <a:off x="2307755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FB89849-1F1D-E908-170F-7E1359D9A598}"/>
              </a:ext>
            </a:extLst>
          </p:cNvPr>
          <p:cNvSpPr/>
          <p:nvPr/>
        </p:nvSpPr>
        <p:spPr>
          <a:xfrm>
            <a:off x="4824298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27B62EB-2F6B-B3A7-ED5D-567A86C05766}"/>
              </a:ext>
            </a:extLst>
          </p:cNvPr>
          <p:cNvSpPr/>
          <p:nvPr/>
        </p:nvSpPr>
        <p:spPr>
          <a:xfrm>
            <a:off x="7621016" y="320446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6008"/>
                </a:moveTo>
                <a:lnTo>
                  <a:pt x="0" y="576008"/>
                </a:lnTo>
                <a:lnTo>
                  <a:pt x="0" y="0"/>
                </a:lnTo>
                <a:lnTo>
                  <a:pt x="9525" y="0"/>
                </a:lnTo>
                <a:lnTo>
                  <a:pt x="9525" y="576008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F185DEA-D1EA-8A22-DB70-8B62607C4CBF}"/>
              </a:ext>
            </a:extLst>
          </p:cNvPr>
          <p:cNvSpPr txBox="1"/>
          <p:nvPr/>
        </p:nvSpPr>
        <p:spPr>
          <a:xfrm>
            <a:off x="4921655" y="447220"/>
            <a:ext cx="22009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Алгоритм решения пятнашек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B9BF212-B9B3-DE18-CF28-27EF7CB0B876}"/>
              </a:ext>
            </a:extLst>
          </p:cNvPr>
          <p:cNvSpPr txBox="1"/>
          <p:nvPr/>
        </p:nvSpPr>
        <p:spPr>
          <a:xfrm>
            <a:off x="7718373" y="455701"/>
            <a:ext cx="18891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Пример работы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E950EF0-6FF6-BFB7-10B9-71683243F175}"/>
              </a:ext>
            </a:extLst>
          </p:cNvPr>
          <p:cNvSpPr txBox="1"/>
          <p:nvPr/>
        </p:nvSpPr>
        <p:spPr>
          <a:xfrm>
            <a:off x="2401785" y="444817"/>
            <a:ext cx="19050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spc="50" dirty="0">
                <a:latin typeface="Arial"/>
                <a:cs typeface="Arial"/>
              </a:rPr>
              <a:t>Прикладная информатика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0A3AF1C-6974-75FB-48A5-FD64E7CC796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25000" y="6218903"/>
            <a:ext cx="2252611" cy="173766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55"/>
              </a:spcBef>
            </a:pPr>
            <a:r>
              <a:rPr lang="ru-RU" dirty="0"/>
              <a:t>Губа Михаил</a:t>
            </a:r>
            <a:endParaRPr lang="ru-RU" spc="-1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5508453-CA7C-89FF-51D5-28B9AAE0D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005" y="897026"/>
            <a:ext cx="9078209" cy="509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659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28260" y="392849"/>
            <a:ext cx="180340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2650" spc="-320" dirty="0">
                <a:solidFill>
                  <a:srgbClr val="000071"/>
                </a:solidFill>
                <a:latin typeface="Arial MT"/>
                <a:cs typeface="Arial MT"/>
              </a:rPr>
              <a:t>9</a:t>
            </a:r>
            <a:endParaRPr sz="265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993" y="360592"/>
            <a:ext cx="1252265" cy="31924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307755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24298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21016" y="320446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6008"/>
                </a:moveTo>
                <a:lnTo>
                  <a:pt x="0" y="576008"/>
                </a:lnTo>
                <a:lnTo>
                  <a:pt x="0" y="0"/>
                </a:lnTo>
                <a:lnTo>
                  <a:pt x="9525" y="0"/>
                </a:lnTo>
                <a:lnTo>
                  <a:pt x="9525" y="576008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21655" y="445572"/>
            <a:ext cx="22009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Алгоритм решения пятнашек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718373" y="455701"/>
            <a:ext cx="18891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Оценка</a:t>
            </a:r>
            <a:endParaRPr sz="1000" i="1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01785" y="444817"/>
            <a:ext cx="19050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spc="50" dirty="0">
                <a:latin typeface="Arial"/>
                <a:cs typeface="Arial"/>
              </a:rPr>
              <a:t>Прикладная информатика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9525000" y="6218903"/>
            <a:ext cx="2252611" cy="173766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55"/>
              </a:spcBef>
            </a:pPr>
            <a:r>
              <a:rPr lang="ru-RU" dirty="0"/>
              <a:t>Губа Михаил</a:t>
            </a:r>
            <a:endParaRPr lang="ru-RU" spc="-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CAC30-0C33-4D71-89EB-9CD0B526BFEC}"/>
              </a:ext>
            </a:extLst>
          </p:cNvPr>
          <p:cNvSpPr txBox="1"/>
          <p:nvPr/>
        </p:nvSpPr>
        <p:spPr>
          <a:xfrm>
            <a:off x="2929908" y="1017585"/>
            <a:ext cx="63321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0" i="0" dirty="0">
                <a:effectLst/>
                <a:latin typeface="Roboto Mono"/>
              </a:rPr>
              <a:t>Асимптотическая</a:t>
            </a:r>
            <a:r>
              <a:rPr lang="ru-RU" sz="4000" dirty="0">
                <a:latin typeface="Roboto" panose="02000000000000000000" pitchFamily="2" charset="0"/>
                <a:ea typeface="Roboto" panose="02000000000000000000" pitchFamily="2" charset="0"/>
              </a:rPr>
              <a:t> оценка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9A7ED-C33D-4951-87EC-3EDDB8AEDE25}"/>
              </a:ext>
            </a:extLst>
          </p:cNvPr>
          <p:cNvSpPr txBox="1"/>
          <p:nvPr/>
        </p:nvSpPr>
        <p:spPr>
          <a:xfrm>
            <a:off x="442814" y="1859339"/>
            <a:ext cx="55792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Сложность алгоритма = </a:t>
            </a:r>
            <a:r>
              <a:rPr lang="en-US" dirty="0"/>
              <a:t>O(b *</a:t>
            </a:r>
            <a:r>
              <a:rPr lang="ru-RU" dirty="0"/>
              <a:t>*</a:t>
            </a:r>
            <a:r>
              <a:rPr lang="en-US" dirty="0"/>
              <a:t> d)</a:t>
            </a:r>
            <a:r>
              <a:rPr lang="ru-RU" dirty="0"/>
              <a:t>, где </a:t>
            </a:r>
            <a:r>
              <a:rPr lang="en-US" dirty="0"/>
              <a:t>b – </a:t>
            </a:r>
            <a:r>
              <a:rPr lang="ru-RU" dirty="0"/>
              <a:t>количество возможных ходов, а </a:t>
            </a:r>
            <a:r>
              <a:rPr lang="en-US" dirty="0"/>
              <a:t>d – </a:t>
            </a:r>
            <a:r>
              <a:rPr lang="ru-RU" dirty="0"/>
              <a:t>количество шагов до цели.</a:t>
            </a:r>
            <a:br>
              <a:rPr lang="ru-RU" dirty="0"/>
            </a:br>
            <a:r>
              <a:rPr lang="ru-RU" dirty="0"/>
              <a:t>При увеличении количества перемешиваний время работы алгоритма возрастает, так как алгоритму приходится проверять большее количество состояний. </a:t>
            </a:r>
            <a:r>
              <a:rPr lang="ru-RU" b="1" dirty="0"/>
              <a:t>Но количество перемешиваний не гарантирует сложность, </a:t>
            </a:r>
            <a:r>
              <a:rPr lang="ru-RU" dirty="0"/>
              <a:t>на сложность влияет расположение плиток, количество нужных ходов и сколько состояний надо проверить.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33FD9FA-6E4C-2856-D710-FB0371464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035" y="2133600"/>
            <a:ext cx="4495800" cy="372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82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28259" y="392849"/>
            <a:ext cx="344615" cy="4238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2650" spc="-320" dirty="0">
                <a:solidFill>
                  <a:srgbClr val="000071"/>
                </a:solidFill>
                <a:latin typeface="Arial MT"/>
                <a:cs typeface="Arial MT"/>
              </a:rPr>
              <a:t>10</a:t>
            </a:r>
            <a:endParaRPr sz="265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993" y="360592"/>
            <a:ext cx="1252265" cy="31924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307755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24298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21016" y="320446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6008"/>
                </a:moveTo>
                <a:lnTo>
                  <a:pt x="0" y="576008"/>
                </a:lnTo>
                <a:lnTo>
                  <a:pt x="0" y="0"/>
                </a:lnTo>
                <a:lnTo>
                  <a:pt x="9525" y="0"/>
                </a:lnTo>
                <a:lnTo>
                  <a:pt x="9525" y="576008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26910" y="444817"/>
            <a:ext cx="22009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Алгоритм решения пятнашек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718373" y="455701"/>
            <a:ext cx="18891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Скорость работы</a:t>
            </a:r>
            <a:endParaRPr sz="1000" i="1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01785" y="444817"/>
            <a:ext cx="19050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spc="50" dirty="0">
                <a:latin typeface="Arial"/>
                <a:cs typeface="Arial"/>
              </a:rPr>
              <a:t>Прикладная информатика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9525000" y="6218903"/>
            <a:ext cx="2252611" cy="173766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55"/>
              </a:spcBef>
            </a:pPr>
            <a:r>
              <a:rPr lang="ru-RU" dirty="0"/>
              <a:t>Губа Михаил</a:t>
            </a:r>
            <a:endParaRPr lang="ru-RU" spc="-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CAC30-0C33-4D71-89EB-9CD0B526BFEC}"/>
              </a:ext>
            </a:extLst>
          </p:cNvPr>
          <p:cNvSpPr txBox="1"/>
          <p:nvPr/>
        </p:nvSpPr>
        <p:spPr>
          <a:xfrm>
            <a:off x="3847707" y="1042085"/>
            <a:ext cx="43332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Roboto" panose="02000000000000000000" pitchFamily="2" charset="0"/>
                <a:ea typeface="Roboto" panose="02000000000000000000" pitchFamily="2" charset="0"/>
              </a:rPr>
              <a:t>Замеры времени</a:t>
            </a:r>
          </a:p>
        </p:txBody>
      </p:sp>
      <p:graphicFrame>
        <p:nvGraphicFramePr>
          <p:cNvPr id="9" name="Таблица 9">
            <a:extLst>
              <a:ext uri="{FF2B5EF4-FFF2-40B4-BE49-F238E27FC236}">
                <a16:creationId xmlns:a16="http://schemas.microsoft.com/office/drawing/2014/main" id="{E546D0F5-0C9E-42E3-B902-DD654866C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84035"/>
              </p:ext>
            </p:extLst>
          </p:nvPr>
        </p:nvGraphicFramePr>
        <p:xfrm>
          <a:off x="1950326" y="2204720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30010850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17013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Перемешиваний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Время работы (секунды)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808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98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0.1267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797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0.1474</a:t>
                      </a:r>
                      <a:endParaRPr kumimoji="0" lang="ru-RU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785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21.373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00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 7.3004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992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965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D4842-A368-C998-0254-D9EED1F44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87C76B-43A1-EC3B-3570-584810D609CE}"/>
              </a:ext>
            </a:extLst>
          </p:cNvPr>
          <p:cNvSpPr txBox="1"/>
          <p:nvPr/>
        </p:nvSpPr>
        <p:spPr>
          <a:xfrm>
            <a:off x="11228259" y="392849"/>
            <a:ext cx="349233" cy="4238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2650" spc="-320" dirty="0">
                <a:solidFill>
                  <a:srgbClr val="000071"/>
                </a:solidFill>
                <a:latin typeface="Arial MT"/>
                <a:cs typeface="Arial MT"/>
              </a:rPr>
              <a:t>11</a:t>
            </a:r>
            <a:endParaRPr sz="2650" dirty="0">
              <a:latin typeface="Arial MT"/>
              <a:cs typeface="Arial M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8F5D373-FC9D-9BCA-A3DA-2133998676A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993" y="360592"/>
            <a:ext cx="1252265" cy="319246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6BE9ECD0-14C9-2D21-D857-FD37C9CF84AF}"/>
              </a:ext>
            </a:extLst>
          </p:cNvPr>
          <p:cNvSpPr/>
          <p:nvPr/>
        </p:nvSpPr>
        <p:spPr>
          <a:xfrm>
            <a:off x="2307755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2592886-7603-B04D-DAD7-BE52D771F62E}"/>
              </a:ext>
            </a:extLst>
          </p:cNvPr>
          <p:cNvSpPr/>
          <p:nvPr/>
        </p:nvSpPr>
        <p:spPr>
          <a:xfrm>
            <a:off x="4824298" y="309562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5995"/>
                </a:moveTo>
                <a:lnTo>
                  <a:pt x="0" y="575995"/>
                </a:lnTo>
                <a:lnTo>
                  <a:pt x="0" y="0"/>
                </a:lnTo>
                <a:lnTo>
                  <a:pt x="9525" y="0"/>
                </a:lnTo>
                <a:lnTo>
                  <a:pt x="9525" y="575995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2764034-5B79-82BE-95E0-428FD9803A65}"/>
              </a:ext>
            </a:extLst>
          </p:cNvPr>
          <p:cNvSpPr/>
          <p:nvPr/>
        </p:nvSpPr>
        <p:spPr>
          <a:xfrm>
            <a:off x="7621016" y="320446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6008"/>
                </a:moveTo>
                <a:lnTo>
                  <a:pt x="0" y="576008"/>
                </a:lnTo>
                <a:lnTo>
                  <a:pt x="0" y="0"/>
                </a:lnTo>
                <a:lnTo>
                  <a:pt x="9525" y="0"/>
                </a:lnTo>
                <a:lnTo>
                  <a:pt x="9525" y="576008"/>
                </a:lnTo>
                <a:close/>
              </a:path>
            </a:pathLst>
          </a:custGeom>
          <a:solidFill>
            <a:srgbClr val="0F2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5586E58-FE60-1D1B-B2DC-D4BA7C164057}"/>
              </a:ext>
            </a:extLst>
          </p:cNvPr>
          <p:cNvSpPr txBox="1"/>
          <p:nvPr/>
        </p:nvSpPr>
        <p:spPr>
          <a:xfrm>
            <a:off x="4921655" y="447427"/>
            <a:ext cx="22009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Алгоритм решения пятнашек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AD696AD-7CDB-D540-FCD2-8F7A6898A350}"/>
              </a:ext>
            </a:extLst>
          </p:cNvPr>
          <p:cNvSpPr txBox="1"/>
          <p:nvPr/>
        </p:nvSpPr>
        <p:spPr>
          <a:xfrm>
            <a:off x="7718373" y="455701"/>
            <a:ext cx="18891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dirty="0">
                <a:latin typeface="Lucida Sans Unicode"/>
                <a:cs typeface="Lucida Sans Unicode"/>
              </a:rPr>
              <a:t>Вывод</a:t>
            </a:r>
            <a:endParaRPr sz="1000" i="1" dirty="0">
              <a:latin typeface="Lucida Sans Unicode"/>
              <a:cs typeface="Lucida Sans Unicode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C16D206-F6EE-A43E-C235-A99045646F74}"/>
              </a:ext>
            </a:extLst>
          </p:cNvPr>
          <p:cNvSpPr txBox="1"/>
          <p:nvPr/>
        </p:nvSpPr>
        <p:spPr>
          <a:xfrm>
            <a:off x="2401785" y="444817"/>
            <a:ext cx="19050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z="1000" i="1" spc="50" dirty="0">
                <a:latin typeface="Arial"/>
                <a:cs typeface="Arial"/>
              </a:rPr>
              <a:t>Прикладная информатика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3850C7E0-059C-330D-E4D3-D85C87CA6E6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25000" y="6218903"/>
            <a:ext cx="2252611" cy="173766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55"/>
              </a:spcBef>
            </a:pPr>
            <a:r>
              <a:rPr lang="ru-RU" dirty="0"/>
              <a:t>Губа Михаил</a:t>
            </a:r>
            <a:endParaRPr lang="ru-RU" spc="-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DC3FB-238A-CDD1-4FD0-4AA6F42E7A55}"/>
              </a:ext>
            </a:extLst>
          </p:cNvPr>
          <p:cNvSpPr txBox="1"/>
          <p:nvPr/>
        </p:nvSpPr>
        <p:spPr>
          <a:xfrm>
            <a:off x="4550208" y="1103993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Roboto Mono"/>
                <a:ea typeface="Roboto" panose="02000000000000000000" pitchFamily="2" charset="0"/>
              </a:rPr>
              <a:t>Вывод</a:t>
            </a:r>
            <a:endParaRPr lang="ru-RU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B02F9A-AE13-3121-2370-4F86EB3EB3F0}"/>
              </a:ext>
            </a:extLst>
          </p:cNvPr>
          <p:cNvSpPr txBox="1"/>
          <p:nvPr/>
        </p:nvSpPr>
        <p:spPr>
          <a:xfrm>
            <a:off x="575249" y="2486123"/>
            <a:ext cx="76448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Была разработана программа для автоматического решения пятнашек, использовав в качестве метода решения алгоритм А*, а также была изучена эвристика «расстояние Манхэттена». Было установлено, что скорость работы алгоритма зависит от начального состояния пазла.</a:t>
            </a:r>
          </a:p>
        </p:txBody>
      </p:sp>
    </p:spTree>
    <p:extLst>
      <p:ext uri="{BB962C8B-B14F-4D97-AF65-F5344CB8AC3E}">
        <p14:creationId xmlns:p14="http://schemas.microsoft.com/office/powerpoint/2010/main" val="4074592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69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3269" y="0"/>
                </a:lnTo>
                <a:lnTo>
                  <a:pt x="12193269" y="6858000"/>
                </a:lnTo>
                <a:close/>
              </a:path>
            </a:pathLst>
          </a:custGeom>
          <a:solidFill>
            <a:srgbClr val="00007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2863595"/>
            <a:ext cx="3816096" cy="113233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895319" y="1036383"/>
            <a:ext cx="9525" cy="576580"/>
          </a:xfrm>
          <a:custGeom>
            <a:avLst/>
            <a:gdLst/>
            <a:ahLst/>
            <a:cxnLst/>
            <a:rect l="l" t="t" r="r" b="b"/>
            <a:pathLst>
              <a:path w="9525" h="576580">
                <a:moveTo>
                  <a:pt x="9525" y="576008"/>
                </a:moveTo>
                <a:lnTo>
                  <a:pt x="0" y="576008"/>
                </a:lnTo>
                <a:lnTo>
                  <a:pt x="0" y="0"/>
                </a:lnTo>
                <a:lnTo>
                  <a:pt x="9525" y="0"/>
                </a:lnTo>
                <a:lnTo>
                  <a:pt x="9525" y="5760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363200" y="1210218"/>
            <a:ext cx="1140778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Cambria"/>
                <a:cs typeface="Cambria"/>
              </a:rPr>
              <a:t>Москва</a:t>
            </a:r>
            <a:r>
              <a:rPr lang="en-US" sz="1400" dirty="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lang="en-US" sz="1400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mbria"/>
                <a:cs typeface="Cambria"/>
              </a:rPr>
              <a:t>202</a:t>
            </a:r>
            <a:r>
              <a:rPr lang="en-US" sz="1400" spc="-20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endParaRPr sz="1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1544</TotalTime>
  <Words>627</Words>
  <Application>Microsoft Office PowerPoint</Application>
  <PresentationFormat>Широкоэкранный</PresentationFormat>
  <Paragraphs>109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2" baseType="lpstr">
      <vt:lpstr>Arial</vt:lpstr>
      <vt:lpstr>Arial MT</vt:lpstr>
      <vt:lpstr>Calibri</vt:lpstr>
      <vt:lpstr>Cambria</vt:lpstr>
      <vt:lpstr>Cambria Math</vt:lpstr>
      <vt:lpstr>Lucida Sans Unicode</vt:lpstr>
      <vt:lpstr>Roboto</vt:lpstr>
      <vt:lpstr>Roboto Mono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dc:description/>
  <cp:lastModifiedBy>Admin</cp:lastModifiedBy>
  <cp:revision>71</cp:revision>
  <dcterms:created xsi:type="dcterms:W3CDTF">2025-11-13T17:13:36Z</dcterms:created>
  <dcterms:modified xsi:type="dcterms:W3CDTF">2026-05-21T10:27:08Z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2024-11-15T00:00:00Z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2025-11-13T00:00:00Z</vt:filetime>
  </property>
  <property fmtid="{D5CDD505-2E9C-101B-9397-08002B2CF9AE}" pid="5" name="SourceModified">
    <vt:lpwstr>D:20241115215435+03'00'</vt:lpwstr>
  </property>
</Properties>
</file>